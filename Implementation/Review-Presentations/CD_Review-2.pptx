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904" r:id="rId9"/>
    <p:sldId id="259" r:id="rId10"/>
    <p:sldId id="260" r:id="rId11"/>
    <p:sldId id="907" r:id="rId12"/>
    <p:sldId id="9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CBE8-B698-47A5-8DE7-838569BBAEF1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D829-17AB-4ECE-8472-75AFBC0D1767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7F5D-49A5-43A7-8F24-3689056A07B2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70958-1234-41DA-807F-74DEF5EC8133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EFC9-9D40-4C3B-926F-446F2EAD9EA8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96D6-0D8D-49FE-8A7B-67D2A33077C4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CBF9-E11B-4FED-A941-1716E6716A45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38152-1A1F-4069-B97F-2F8492133493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7D7AF-73C1-486E-AAF1-8487042847C8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1670E-0E38-416A-8BF3-413FF2503249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483-FBD2-4D81-9BD2-7183E2DDA7B3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529B-4727-414D-85DB-586E4D7718BE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7947-D1EC-44C2-8005-EBCD3C015684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62FE-B873-469D-B1E4-55D4CD480EF9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0BB-1CA1-4BC2-A3D2-85D32B4118E5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AB4E3-F476-4814-893F-30ADCE520D24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5162-8E51-4000-9526-40326FAAE520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358A0-B945-48AB-8546-3AD2EC29BDB3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EE17-CD62-4FB9-AA21-356A60D83143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8568-5671-40D8-B5D6-DADF3BD195E3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658D-C5A0-4429-A046-46CCF3CC8350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64B3-48DF-460D-8E16-06ED86847A51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4CD52-2AB8-420E-A6DB-AA8095D599E0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60891-2558-45D8-9F53-9AEAA5FD91F8}" type="datetime4">
              <a:rPr lang="en-US" smtClean="0"/>
              <a:t>September 18,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Friday, September 18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18567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D.Surya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- 2420030440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S,Akshay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2420030579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P.Ruthvik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2420030546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D.Jai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82577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B. Dwarakanath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2D909-88C7-4DF5-9633-CCCA2C1BFCAD}" type="datetime4">
              <a:rPr lang="en-US" b="1" smtClean="0"/>
              <a:t>September 18,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500" b="1" dirty="0">
                <a:solidFill>
                  <a:schemeClr val="bg1"/>
                </a:solidFill>
              </a:rPr>
              <a:t>Smart Source-to-Instruction Compiler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(24CS2235F)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635780-B09A-4067-9A36-BD5300BA922C}" type="datetime4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September 18,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A31BE0-2C83-15D3-AD8F-F1DC880B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7E6-4EED-4E0C-BB7A-9FE8D2AA27A0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0E068-F234-DFD0-CFDD-FE57785A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DEFDF-AA23-2E79-7B93-0FEF12D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8297-BD2E-0827-B9C7-F3344DEEDEFC}"/>
              </a:ext>
            </a:extLst>
          </p:cNvPr>
          <p:cNvSpPr txBox="1"/>
          <p:nvPr/>
        </p:nvSpPr>
        <p:spPr>
          <a:xfrm>
            <a:off x="1315452" y="1750418"/>
            <a:ext cx="95610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Traditional compiler systems often perform complex compilation processes internally, making it difficult for students and developers to understand how </a:t>
            </a:r>
            <a:r>
              <a:rPr lang="en-IN" b="1" dirty="0"/>
              <a:t>high-level source code is transformed into low-level instructions</a:t>
            </a:r>
            <a:r>
              <a:rPr lang="en-IN" dirty="0"/>
              <a:t>. The intermediate stages such as </a:t>
            </a:r>
            <a:r>
              <a:rPr lang="en-IN" b="1" dirty="0"/>
              <a:t>lexical analysis, syntax analysis, semantic analysis, intermediate code generation, and code optimization</a:t>
            </a:r>
            <a:r>
              <a:rPr lang="en-IN" dirty="0"/>
              <a:t> are usually not visible as a complete, connected workflow. Error information may also be difficult to trace back to the corresponding compilation phase.</a:t>
            </a:r>
          </a:p>
          <a:p>
            <a:r>
              <a:rPr lang="en-IN" dirty="0"/>
              <a:t>The </a:t>
            </a:r>
            <a:r>
              <a:rPr lang="en-IN" b="1" dirty="0"/>
              <a:t>Smart Source-to-Instruction Compiler</a:t>
            </a:r>
            <a:r>
              <a:rPr lang="en-IN" dirty="0"/>
              <a:t> addresses this problem by developing an integrated compiler system that </a:t>
            </a:r>
            <a:r>
              <a:rPr lang="en-IN" b="1" dirty="0"/>
              <a:t>accepts high-level source code, performs the major phases of compilation, detects and reports errors, generates intermediate representations, applies optimization techniques, and produces target-level instructions</a:t>
            </a:r>
            <a:r>
              <a:rPr lang="en-IN" dirty="0"/>
              <a:t>. The system provides phase-wise outputs, making the compilation process </a:t>
            </a:r>
            <a:r>
              <a:rPr lang="en-IN" b="1" dirty="0"/>
              <a:t>transparent, traceable, and easier to understand</a:t>
            </a:r>
            <a:r>
              <a:rPr lang="en-IN" dirty="0"/>
              <a:t>, while demonstrating the practical implementation of fundamental compiler design concepts.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6ACFA-645B-849B-6F01-7814500C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3D38D-1220-4382-A543-B9B48D230E15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4BF92-E3E1-8F3F-AABE-435E380B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B7C8C-01DA-2CD9-935B-355140DD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914AC-E7CA-F855-E6C2-496809C442E6}"/>
              </a:ext>
            </a:extLst>
          </p:cNvPr>
          <p:cNvSpPr txBox="1"/>
          <p:nvPr/>
        </p:nvSpPr>
        <p:spPr>
          <a:xfrm>
            <a:off x="1284371" y="1950313"/>
            <a:ext cx="96232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Develop</a:t>
            </a:r>
            <a:r>
              <a:rPr lang="en-IN" dirty="0"/>
              <a:t> a compiler that translates high-level source code into low-level target instructions through a complete compilation pipeline.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Implement</a:t>
            </a:r>
            <a:r>
              <a:rPr lang="en-IN" dirty="0"/>
              <a:t> major compiler phases: </a:t>
            </a:r>
            <a:r>
              <a:rPr lang="en-IN" b="1" dirty="0"/>
              <a:t>Lexical Analysis, Syntax Analysis, Semantic Analysis, Intermediate Code Generation, Code Optimization, and Target Code Generation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Detect and report</a:t>
            </a:r>
            <a:r>
              <a:rPr lang="en-IN" dirty="0"/>
              <a:t> lexical, syntax, and semantic errors with meaningful feedback.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Generate and visualize</a:t>
            </a:r>
            <a:r>
              <a:rPr lang="en-IN" dirty="0"/>
              <a:t> intermediate representations such as </a:t>
            </a:r>
            <a:r>
              <a:rPr lang="en-IN" b="1" dirty="0"/>
              <a:t>Abstract Syntax Tree (AST) and Three-Address Code (TAC)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Apply code optimization techniques</a:t>
            </a:r>
            <a:r>
              <a:rPr lang="en-IN" dirty="0"/>
              <a:t> to eliminate unnecessary operations and improve generated code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Provide phase-wise outputs</a:t>
            </a:r>
            <a:r>
              <a:rPr lang="en-IN" dirty="0"/>
              <a:t> to make the source-to-instruction transformation transparent and easy to understand.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Demonstrate practically</a:t>
            </a:r>
            <a:r>
              <a:rPr lang="en-IN" dirty="0"/>
              <a:t> how fundamental compiler design concepts work together in a complete compiler system.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137735"/>
              </p:ext>
            </p:extLst>
          </p:nvPr>
        </p:nvGraphicFramePr>
        <p:xfrm>
          <a:off x="274645" y="914056"/>
          <a:ext cx="11642705" cy="48684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Authors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Title of the Paper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Methodology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Inferences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Limitation / Future Work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Resler, R. D. &amp; Deaver, D. M. (1998)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/>
                        <a:t>VCOCO: A Visualization Tool for Teaching Compilers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Developed a </a:t>
                      </a:r>
                      <a:r>
                        <a:rPr lang="en-IN" sz="1200" b="1" dirty="0"/>
                        <a:t>visible compiler</a:t>
                      </a:r>
                      <a:r>
                        <a:rPr lang="en-IN" sz="1200" dirty="0"/>
                        <a:t> for observing the compilation process.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Used visualization to make compiler internals easier to inspect.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Focused on supporting compiler education.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Visualization can make complex compiler processes easier to understand.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Students can observe compilation rather than treating the compiler as a black box.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Primarily designed as a </a:t>
                      </a:r>
                      <a:r>
                        <a:rPr lang="en-IN" sz="1200" b="1" dirty="0"/>
                        <a:t>teaching/visualization tool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.• Scope can be extended to provide more complete phase-wise transformation and target-code traceability.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Schäckeler, S., Shang, W. &amp; Davis, R. (2009)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/>
                        <a:t>Compiler Optimization Pass Visualization: The Procedural Abstraction Case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Visualized the effect of </a:t>
                      </a:r>
                      <a:r>
                        <a:rPr lang="en-IN" sz="1200" b="1" dirty="0"/>
                        <a:t>compiler optimization passes</a:t>
                      </a:r>
                      <a:r>
                        <a:rPr lang="en-IN" sz="120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Represented optimization effects across program code and instructions.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Focused on helping students understand complex optimization </a:t>
                      </a:r>
                      <a:r>
                        <a:rPr lang="en-IN" sz="1200" dirty="0" err="1"/>
                        <a:t>behavior</a:t>
                      </a:r>
                      <a:r>
                        <a:rPr lang="en-IN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Optimization visualization helps users understand </a:t>
                      </a:r>
                      <a:r>
                        <a:rPr lang="en-IN" sz="1200" b="1" dirty="0"/>
                        <a:t>when, where, and how optimizations transform code</a:t>
                      </a:r>
                      <a:r>
                        <a:rPr lang="en-IN" sz="120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Visual representations can make optimization algorithms more concrete.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Focuses mainly on </a:t>
                      </a:r>
                      <a:r>
                        <a:rPr lang="en-IN" sz="1200" b="1" dirty="0"/>
                        <a:t>specific optimization visualization</a:t>
                      </a:r>
                      <a:r>
                        <a:rPr lang="en-IN" sz="1200" dirty="0"/>
                        <a:t>, rather than an end-to-end source-to-instruction pipeline.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Future work can integrate multiple compiler phases with optimization traceability.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Stamenković, S., Jovanović, N. &amp; Chakraborty, P. (2020)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/>
                        <a:t>Evaluation of Simulation Systems Suitable for Teaching Compiler Construction Courses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Reviewed and evaluated </a:t>
                      </a:r>
                      <a:r>
                        <a:rPr lang="en-IN" sz="1200" b="1" dirty="0"/>
                        <a:t>16 compiler-construction simulation systems</a:t>
                      </a:r>
                      <a:r>
                        <a:rPr lang="en-IN" sz="120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Defined evaluation criteria for educational compiler simulators.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Studied how simulation supports experimentation and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Simulation tools provide opportunities to </a:t>
                      </a:r>
                      <a:r>
                        <a:rPr lang="en-IN" sz="1200" b="1" dirty="0"/>
                        <a:t>visualize abstract compiler concepts and experiment interactively</a:t>
                      </a:r>
                      <a:r>
                        <a:rPr lang="en-IN" sz="120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Compiler education benefits from practical visualization-based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• Evaluation covers existing simulation systems rather than proposing a unified compiler implementation.</a:t>
                      </a:r>
                    </a:p>
                    <a:p>
                      <a:pPr>
                        <a:buNone/>
                      </a:pPr>
                      <a:r>
                        <a:rPr lang="en-IN" sz="1200" dirty="0"/>
                        <a:t>• Opportunity exists for an integrated system combining </a:t>
                      </a:r>
                      <a:r>
                        <a:rPr lang="en-IN" sz="1200" b="1" dirty="0"/>
                        <a:t>analysis, IR, optimization, and target generation</a:t>
                      </a:r>
                      <a:r>
                        <a:rPr lang="en-IN" sz="12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4" y="166246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6D5F-6A31-4A84-9D97-03670D925191}" type="datetime4">
              <a:rPr lang="en-US" smtClean="0"/>
              <a:t>September 18,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CD Project Review-2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26DDC-67F2-168F-29D3-4A32A30F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FF36-F413-4BBF-B58E-C2F9B82C49BA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FC03A-55F6-B8CA-D5E9-E6282522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8A121-1DB3-45B7-D8C1-844C86AB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EAEE9-0AC8-20F5-93B3-F683D51B64C1}"/>
              </a:ext>
            </a:extLst>
          </p:cNvPr>
          <p:cNvSpPr txBox="1"/>
          <p:nvPr/>
        </p:nvSpPr>
        <p:spPr>
          <a:xfrm>
            <a:off x="1108910" y="1919789"/>
            <a:ext cx="99741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Existing compiler tools</a:t>
            </a:r>
            <a:r>
              <a:rPr lang="en-IN" dirty="0"/>
              <a:t> mainly focus on individual phases such as analysis, visualization, optimization, or code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Limited end-to-end integration</a:t>
            </a:r>
            <a:r>
              <a:rPr lang="en-IN" dirty="0"/>
              <a:t> is available to show the complete transformation from </a:t>
            </a:r>
            <a:r>
              <a:rPr lang="en-IN" b="1" dirty="0"/>
              <a:t>source code to target instructions</a:t>
            </a:r>
            <a:r>
              <a:rPr lang="en-IN" dirty="0"/>
              <a:t> in one workflow.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Source-to-instruction traceability</a:t>
            </a:r>
            <a:r>
              <a:rPr lang="en-IN" dirty="0"/>
              <a:t> is limited, making it difficult to track how a particular source statement changes through each compiler phase.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Optimization transformations</a:t>
            </a:r>
            <a:r>
              <a:rPr lang="en-IN" dirty="0"/>
              <a:t> are often not clearly connected to the original source statement.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Therefore, our project addresses this gap</a:t>
            </a:r>
            <a:r>
              <a:rPr lang="en-IN" dirty="0"/>
              <a:t> by providing an integrated compilation pipeline with </a:t>
            </a:r>
            <a:r>
              <a:rPr lang="en-IN" b="1" dirty="0"/>
              <a:t>phase-wise visualization and statement-level traceability from source code to optimized target instructions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C99A-03EB-7D9A-487F-ECDBF885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04A8-EE07-431F-8124-3E083E9AA323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CE49-4063-A02E-0AE1-596BD4ED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EAECB-8234-FD1B-312B-039BDC3A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1B5DC5-3D5A-77F2-9032-1C854669C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53825"/>
              </p:ext>
            </p:extLst>
          </p:nvPr>
        </p:nvGraphicFramePr>
        <p:xfrm>
          <a:off x="669918" y="674792"/>
          <a:ext cx="10852164" cy="5437718"/>
        </p:xfrm>
        <a:graphic>
          <a:graphicData uri="http://schemas.openxmlformats.org/drawingml/2006/table">
            <a:tbl>
              <a:tblPr/>
              <a:tblGrid>
                <a:gridCol w="3583264">
                  <a:extLst>
                    <a:ext uri="{9D8B030D-6E8A-4147-A177-3AD203B41FA5}">
                      <a16:colId xmlns:a16="http://schemas.microsoft.com/office/drawing/2014/main" val="406110148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49903730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240095816"/>
                    </a:ext>
                  </a:extLst>
                </a:gridCol>
              </a:tblGrid>
              <a:tr h="22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Existing Research /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Problem Gap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Existing Research /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47572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1. Compiler Phase Visualization</a:t>
                      </a:r>
                      <a:r>
                        <a:rPr lang="en-IN" sz="1600"/>
                        <a:t> – Existing educational tools visualize compiler phases such as </a:t>
                      </a:r>
                      <a:r>
                        <a:rPr lang="en-IN" sz="1600" b="1"/>
                        <a:t>lexical analysis, syntax analysis, and code generation</a:t>
                      </a:r>
                      <a:r>
                        <a:rPr lang="en-IN" sz="1600"/>
                        <a:t> to help learners understand compiler internals.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Existing tools may focus on individual phases, with </a:t>
                      </a:r>
                      <a:r>
                        <a:rPr lang="en-IN" sz="1600" b="1"/>
                        <a:t>limited continuous visibility of how a source statement moves through the complete compilation pipeline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1. Compiler Phase Visualization</a:t>
                      </a:r>
                      <a:r>
                        <a:rPr lang="en-IN" sz="1600"/>
                        <a:t> – Existing educational tools visualize compiler phases such as </a:t>
                      </a:r>
                      <a:r>
                        <a:rPr lang="en-IN" sz="1600" b="1"/>
                        <a:t>lexical analysis, syntax analysis, and code generation</a:t>
                      </a:r>
                      <a:r>
                        <a:rPr lang="en-IN" sz="1600"/>
                        <a:t> to help learners understand compiler internals.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024174"/>
                  </a:ext>
                </a:extLst>
              </a:tr>
              <a:tr h="1430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Compiler Optimization Visualization</a:t>
                      </a:r>
                      <a:r>
                        <a:rPr lang="en-IN" sz="1600"/>
                        <a:t> – Existing approaches visualize optimization techniques and demonstrate how optimization passes transform program code or intermediate representations.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Optimization is often presented separately from the original source program, creating a </a:t>
                      </a:r>
                      <a:r>
                        <a:rPr lang="en-IN" sz="1600" b="1"/>
                        <a:t>limited connection between source statements and their optimized representations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Compiler Optimization Visualization</a:t>
                      </a:r>
                      <a:r>
                        <a:rPr lang="en-IN" sz="1600"/>
                        <a:t> – Existing approaches visualize optimization techniques and demonstrate how optimization passes transform program code or intermediate representations.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6993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3. Source-to-Target Compilation Tools</a:t>
                      </a:r>
                      <a:r>
                        <a:rPr lang="en-IN" sz="1600"/>
                        <a:t> – Existing compiler systems translate source programs into </a:t>
                      </a:r>
                      <a:r>
                        <a:rPr lang="en-IN" sz="1600" b="1"/>
                        <a:t>intermediate representations and target/assembly code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The transformation is generally treated as a compiler-internal process, with </a:t>
                      </a:r>
                      <a:r>
                        <a:rPr lang="en-IN" sz="1600" b="1"/>
                        <a:t>limited statement-level traceability showing the relationship between source code, IR, optimization, and final instructions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3. Source-to-Target Compilation Tools</a:t>
                      </a:r>
                      <a:r>
                        <a:rPr lang="en-IN" sz="1600" dirty="0"/>
                        <a:t> – Existing compiler systems translate source programs into </a:t>
                      </a:r>
                      <a:r>
                        <a:rPr lang="en-IN" sz="1600" b="1" dirty="0"/>
                        <a:t>intermediate representations and target/assembly code</a:t>
                      </a:r>
                      <a:r>
                        <a:rPr lang="en-IN" sz="16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38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39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54E30-B6D5-0610-5106-83E4C008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69661-8AFD-4A1F-A409-0721B95F5DA0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60531-F9A6-A5CF-2D9E-AE4407D4E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D36F2-8227-C85F-074F-25FC0474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1A02B-4DE1-4DCB-532E-C71CE0D223BE}"/>
              </a:ext>
            </a:extLst>
          </p:cNvPr>
          <p:cNvSpPr txBox="1"/>
          <p:nvPr/>
        </p:nvSpPr>
        <p:spPr>
          <a:xfrm>
            <a:off x="521367" y="1213682"/>
            <a:ext cx="111492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Innovation</a:t>
            </a:r>
          </a:p>
          <a:p>
            <a:pPr lvl="0"/>
            <a:r>
              <a:rPr lang="en-IN" b="1" dirty="0"/>
              <a:t>Source-to-Instruction Traceability</a:t>
            </a:r>
            <a:r>
              <a:rPr lang="en-IN" dirty="0"/>
              <a:t> — Tracks a source statement through </a:t>
            </a:r>
            <a:r>
              <a:rPr lang="en-IN" b="1" dirty="0"/>
              <a:t>Lexical Analysis → AST → Semantic Analysis → IR/TAC → Optimization → Target Instructions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Phase-Wise Compilation View</a:t>
            </a:r>
            <a:r>
              <a:rPr lang="en-IN" dirty="0"/>
              <a:t> — Shows the output and transformation at every major compiler phase. </a:t>
            </a:r>
          </a:p>
          <a:p>
            <a:pPr lvl="0"/>
            <a:r>
              <a:rPr lang="en-IN" b="1" dirty="0"/>
              <a:t>Integrated Error Mapping</a:t>
            </a:r>
            <a:r>
              <a:rPr lang="en-IN" dirty="0"/>
              <a:t> — Connects errors to their </a:t>
            </a:r>
            <a:r>
              <a:rPr lang="en-IN" b="1" dirty="0"/>
              <a:t>specific compilation phase and source location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r>
              <a:rPr lang="en-IN" b="1" dirty="0"/>
              <a:t>Creativity</a:t>
            </a:r>
          </a:p>
          <a:p>
            <a:pPr lvl="0"/>
            <a:r>
              <a:rPr lang="en-IN" dirty="0"/>
              <a:t>Provides an </a:t>
            </a:r>
            <a:r>
              <a:rPr lang="en-IN" b="1" dirty="0"/>
              <a:t>interactive visual representation</a:t>
            </a:r>
            <a:r>
              <a:rPr lang="en-IN" dirty="0"/>
              <a:t> of the compilation process instead of displaying only the final output. </a:t>
            </a:r>
          </a:p>
          <a:p>
            <a:pPr lvl="0"/>
            <a:r>
              <a:rPr lang="en-IN" dirty="0"/>
              <a:t>Allows users to observe </a:t>
            </a:r>
            <a:r>
              <a:rPr lang="en-IN" b="1" dirty="0"/>
              <a:t>how a source statement changes at each stage</a:t>
            </a:r>
            <a:r>
              <a:rPr lang="en-IN" dirty="0"/>
              <a:t> of compilation. </a:t>
            </a:r>
          </a:p>
          <a:p>
            <a:pPr lvl="0"/>
            <a:r>
              <a:rPr lang="en-IN" dirty="0"/>
              <a:t>Presents optimization as a </a:t>
            </a:r>
            <a:r>
              <a:rPr lang="en-IN" b="1" dirty="0"/>
              <a:t>visible transformation</a:t>
            </a:r>
            <a:r>
              <a:rPr lang="en-IN" dirty="0"/>
              <a:t>, making it easier to understand what was changed and why.</a:t>
            </a:r>
          </a:p>
          <a:p>
            <a:endParaRPr lang="en-IN" b="1" dirty="0"/>
          </a:p>
          <a:p>
            <a:r>
              <a:rPr lang="en-IN" b="1" dirty="0"/>
              <a:t>Novelty</a:t>
            </a:r>
          </a:p>
          <a:p>
            <a:pPr lvl="0"/>
            <a:r>
              <a:rPr lang="en-IN" dirty="0"/>
              <a:t>Introduces </a:t>
            </a:r>
            <a:r>
              <a:rPr lang="en-IN" b="1" dirty="0"/>
              <a:t>statement-level Source-to-Instruction Traceability</a:t>
            </a:r>
            <a:r>
              <a:rPr lang="en-IN" dirty="0"/>
              <a:t> as the central feature. </a:t>
            </a:r>
          </a:p>
          <a:p>
            <a:pPr lvl="0"/>
            <a:r>
              <a:rPr lang="en-IN" dirty="0"/>
              <a:t>Maintains the connection between the </a:t>
            </a:r>
            <a:r>
              <a:rPr lang="en-IN" b="1" dirty="0"/>
              <a:t>original source statement, its intermediate representations, optimization changes, and final target instructions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Combines </a:t>
            </a:r>
            <a:r>
              <a:rPr lang="en-IN" b="1" dirty="0"/>
              <a:t>compilation, visualization, error analysis, and transformation tracking</a:t>
            </a:r>
            <a:r>
              <a:rPr lang="en-IN" dirty="0"/>
              <a:t> into one integrated workflow.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A3DAE-FFBB-4BFE-E5B6-06E4178A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0EE1-967E-4678-8683-9722E15CAEE4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8FAFB-9824-733E-16DC-963FD62B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B5CC6-0E7F-9041-029C-CF1CABA1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300F3-4C6A-065F-2388-97A6B2C1CFCF}"/>
              </a:ext>
            </a:extLst>
          </p:cNvPr>
          <p:cNvSpPr txBox="1"/>
          <p:nvPr/>
        </p:nvSpPr>
        <p:spPr>
          <a:xfrm>
            <a:off x="838200" y="1472639"/>
            <a:ext cx="99300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Technical Feasibility:</a:t>
            </a:r>
            <a:r>
              <a:rPr lang="en-IN" dirty="0"/>
              <a:t> Uses well-established </a:t>
            </a:r>
            <a:r>
              <a:rPr lang="en-IN" b="1" dirty="0"/>
              <a:t>compiler algorithms, AST/parse trees, intermediate representation, and optimization techniques</a:t>
            </a:r>
            <a:r>
              <a:rPr lang="en-IN" dirty="0"/>
              <a:t> that can be implemented with standard programming tools.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Implementation Feasibility:</a:t>
            </a:r>
            <a:r>
              <a:rPr lang="en-IN" dirty="0"/>
              <a:t> The system can be developed </a:t>
            </a:r>
            <a:r>
              <a:rPr lang="en-IN" b="1" dirty="0"/>
              <a:t>modularly</a:t>
            </a:r>
            <a:r>
              <a:rPr lang="en-IN" dirty="0"/>
              <a:t>, integrating lexical, syntax, semantic, IR, optimization, and target-code generation phases.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Resource Feasibility:</a:t>
            </a:r>
            <a:r>
              <a:rPr lang="en-IN" dirty="0"/>
              <a:t> Requires only </a:t>
            </a:r>
            <a:r>
              <a:rPr lang="en-IN" b="1" dirty="0"/>
              <a:t>standard computer hardware and open-source software</a:t>
            </a:r>
            <a:r>
              <a:rPr lang="en-IN" dirty="0"/>
              <a:t>, with no specialized hardware.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Time Feasibility:</a:t>
            </a:r>
            <a:r>
              <a:rPr lang="en-IN" dirty="0"/>
              <a:t> The modular architecture allows each compiler phase to be </a:t>
            </a:r>
            <a:r>
              <a:rPr lang="en-IN" b="1" dirty="0"/>
              <a:t>developed, tested, and integrated progressively</a:t>
            </a:r>
            <a:r>
              <a:rPr lang="en-IN" dirty="0"/>
              <a:t> within the project timeline.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Academic Feasibility:</a:t>
            </a:r>
            <a:r>
              <a:rPr lang="en-IN" dirty="0"/>
              <a:t> Directly applies the major concepts of </a:t>
            </a:r>
            <a:r>
              <a:rPr lang="en-IN" b="1" dirty="0"/>
              <a:t>Compiler Design</a:t>
            </a:r>
            <a:r>
              <a:rPr lang="en-IN" dirty="0"/>
              <a:t>, making the project suitable for practical implementation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728C-621F-7ADD-D09F-0979FB9A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43434D-6876-57ED-1C70-5FD28DCDF70B}"/>
              </a:ext>
            </a:extLst>
          </p:cNvPr>
          <p:cNvSpPr txBox="1"/>
          <p:nvPr/>
        </p:nvSpPr>
        <p:spPr>
          <a:xfrm>
            <a:off x="2478993" y="372351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B4A30-78A3-971A-C6ED-BCA16DD29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D264F-4BF9-513E-6AA8-9657A52F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6AB7-C9CE-41A7-B588-0CAF603AF196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674CA-D9ED-182B-BD52-CB3EC47F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26E77-D9F4-7DFA-4608-6DE003E6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FD727-1400-EDC6-003C-D820DE468454}"/>
              </a:ext>
            </a:extLst>
          </p:cNvPr>
          <p:cNvSpPr txBox="1"/>
          <p:nvPr/>
        </p:nvSpPr>
        <p:spPr>
          <a:xfrm>
            <a:off x="994611" y="1956772"/>
            <a:ext cx="993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9" name="Content Placeholder 10">
            <a:extLst>
              <a:ext uri="{FF2B5EF4-FFF2-40B4-BE49-F238E27FC236}">
                <a16:creationId xmlns:a16="http://schemas.microsoft.com/office/drawing/2014/main" id="{5978E026-0F24-A13E-6B15-EEE3DA93C2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679418"/>
              </p:ext>
            </p:extLst>
          </p:nvPr>
        </p:nvGraphicFramePr>
        <p:xfrm>
          <a:off x="1451142" y="1070392"/>
          <a:ext cx="9289716" cy="5285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474">
                  <a:extLst>
                    <a:ext uri="{9D8B030D-6E8A-4147-A177-3AD203B41FA5}">
                      <a16:colId xmlns:a16="http://schemas.microsoft.com/office/drawing/2014/main" val="865632583"/>
                    </a:ext>
                  </a:extLst>
                </a:gridCol>
                <a:gridCol w="4333664">
                  <a:extLst>
                    <a:ext uri="{9D8B030D-6E8A-4147-A177-3AD203B41FA5}">
                      <a16:colId xmlns:a16="http://schemas.microsoft.com/office/drawing/2014/main" val="2856754256"/>
                    </a:ext>
                  </a:extLst>
                </a:gridCol>
                <a:gridCol w="3995578">
                  <a:extLst>
                    <a:ext uri="{9D8B030D-6E8A-4147-A177-3AD203B41FA5}">
                      <a16:colId xmlns:a16="http://schemas.microsoft.com/office/drawing/2014/main" val="3992791816"/>
                    </a:ext>
                  </a:extLst>
                </a:gridCol>
              </a:tblGrid>
              <a:tr h="40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Activity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Output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10404"/>
                  </a:ext>
                </a:extLst>
              </a:tr>
              <a:tr h="701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1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Literature Survey &amp; 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Problem definition, objectives, requirements, research gap and novelty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12841"/>
                  </a:ext>
                </a:extLst>
              </a:tr>
              <a:tr h="40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2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Language &amp; Compiler 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Source-language syntax, grammar rules, tokens and supported constructs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198534"/>
                  </a:ext>
                </a:extLst>
              </a:tr>
              <a:tr h="701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3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Lexical &amp; Syntax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Token stream, parse tree/AST and lexical/syntax error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65806"/>
                  </a:ext>
                </a:extLst>
              </a:tr>
              <a:tr h="701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4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Semantic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Symbol table, type checking and semantic error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957438"/>
                  </a:ext>
                </a:extLst>
              </a:tr>
              <a:tr h="49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5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Intermediate Code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Intermediate Representation (IR) / Three-Address Code (TAC)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477876"/>
                  </a:ext>
                </a:extLst>
              </a:tr>
              <a:tr h="701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6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Code Optimization &amp; Traceability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Optimized IR, optimization transformations and source-statement 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361741"/>
                  </a:ext>
                </a:extLst>
              </a:tr>
              <a:tr h="49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7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Target Code Generation &amp; 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Target instructions and complete source-to-instruction compilation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13394"/>
                  </a:ext>
                </a:extLst>
              </a:tr>
              <a:tr h="49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 8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Testing, Documentation &amp; Final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Test results, working prototype, project report and final demonstration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65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77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C0D2-1DCF-1449-93FC-EAD64E75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25" y="7448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Architecture/Project Overview: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6B05C0-194E-ECB0-A369-3A534128C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37" y="995613"/>
            <a:ext cx="8041105" cy="53607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A6D96-0E94-9C15-199B-DD4589CF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D829-17AB-4ECE-8472-75AFBC0D1767}" type="datetime4">
              <a:rPr lang="en-US" smtClean="0"/>
              <a:t>September 18,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101F6-1478-B542-62DB-38FE1209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76704-DB79-DACF-7A89-F9E29B9A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6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1499</Words>
  <Application>Microsoft Office PowerPoint</Application>
  <PresentationFormat>Widescreen</PresentationFormat>
  <Paragraphs>188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Architecture/Project Overview: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</dc:creator>
  <cp:lastModifiedBy>Akshay Saladi</cp:lastModifiedBy>
  <cp:revision>35</cp:revision>
  <dcterms:created xsi:type="dcterms:W3CDTF">2026-08-08T06:33:56Z</dcterms:created>
  <dcterms:modified xsi:type="dcterms:W3CDTF">2026-09-18T05:46:24Z</dcterms:modified>
</cp:coreProperties>
</file>